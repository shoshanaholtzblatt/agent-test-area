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breath: we already have proof that reusable research delivers — today is about turning that into a system. Name the day's outputs: vision, use cases, a 1-year roadmap, milestones, resourcing.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Put up her diagram (swap this placeholder for the real one). Be generous: right ambition. But say plainly it's tangled and we can't choose how to build from it yet. That tension sets up the day: the way to get specific is the use cases. We return to this diagram later, cleared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Credibility anchor — we're not theorizing. JTBD and critical-task dashboards both built reusable knowledge and cut duplicative research. Common thread: structured and accessible — exactly what's missing for messy qualitative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gap honestly: structured programs reuse well; messy qualitative insights remain elusive, so people re-run studies. Then the shift: Claude changes the economics, and the window is open now. End by stating the day's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trust-builder — answers 'why won't this be another graveyard.' The blockers were labor, trust, integration, and all three fell recently; the extraction skill proves the structuring labor is now automatable. (Order B: placed early, right after the gap.)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spine of the day. Don't rush it. The use case is the input that determines the build — storage, access, cost. This is why we spend the morning on use cases before any architecture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payoff that makes the thesis concrete. Walk one row at a time: the question on the left dictates the approach and where the data lives on the right. The middle column is the fetch/synthesize/judge ladder — cost rises down. Land it: get the use case specific and the architecture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afternoon's worksheet. The trick: don't ask people to self-classify lookup vs synthesis — have them write 2–3 real example questions, and we read type and judgment off those. Five fields. Impact (not frequency/volume) drives prioritization. Data + sensitivity + provenance live together but quietly drive two decisions: where it lives/governance, and custom-extraction vs black-box.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Callback to the messy diagram: same pieces, now in three clean layers. Assets → Access → Applications. Durable system is the bottom two; the top is what today's ideation generates. Skills sit in Access — they're method, which sets up the synthetic-users contrast.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Pre-empt 'isn't that just a skill?' Same machinery, opposite jobs: a skill organizes real evidence; a synthetic user manufactures simulated evidence. Caveat aloud: more grounding raises fidelity, not truth — so pre-work, never validation, and that matters MORE as personas get more convincing.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as the destination the roadmap builds toward, and a strawman the room rewrites. Ask which enablements matter most and which metrics partners actually track. Sets up the afternoon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Diverge in the morning (use cases), converge in the afternoon (options → architecture → milestones). The parking lot points to a scheduled slot — so when a partner wants to dive into data structures, you can say 'that's the afternoon block,' not just 'later.'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only — use if a term trips someone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281160" y="1325880"/>
            <a:ext cx="868680" cy="1554480"/>
          </a:xfrm>
          <a:prstGeom prst="line">
            <a:avLst/>
          </a:prstGeom>
          <a:ln w="15240">
            <a:solidFill>
              <a:srgbClr val="3A55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149840" y="2880360"/>
            <a:ext cx="1124712" cy="256032"/>
          </a:xfrm>
          <a:prstGeom prst="line">
            <a:avLst/>
          </a:prstGeom>
          <a:ln w="15240">
            <a:solidFill>
              <a:srgbClr val="3A55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149840" y="2880360"/>
            <a:ext cx="658367" cy="1572768"/>
          </a:xfrm>
          <a:prstGeom prst="line">
            <a:avLst/>
          </a:prstGeom>
          <a:ln w="15240">
            <a:solidFill>
              <a:srgbClr val="3A55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528048" y="4041648"/>
            <a:ext cx="1280159" cy="411480"/>
          </a:xfrm>
          <a:prstGeom prst="line">
            <a:avLst/>
          </a:prstGeom>
          <a:ln w="15240">
            <a:solidFill>
              <a:srgbClr val="3A55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20756" y="1842516"/>
            <a:ext cx="653796" cy="1293876"/>
          </a:xfrm>
          <a:prstGeom prst="line">
            <a:avLst/>
          </a:prstGeom>
          <a:ln w="15240">
            <a:solidFill>
              <a:srgbClr val="3A55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9148572" y="2290572"/>
            <a:ext cx="1001268" cy="589788"/>
          </a:xfrm>
          <a:prstGeom prst="line">
            <a:avLst/>
          </a:prstGeom>
          <a:ln w="15240">
            <a:solidFill>
              <a:srgbClr val="3A55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808207" y="2377439"/>
            <a:ext cx="713233" cy="2075689"/>
          </a:xfrm>
          <a:prstGeom prst="line">
            <a:avLst/>
          </a:prstGeom>
          <a:ln w="15240">
            <a:solidFill>
              <a:srgbClr val="3A55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189720" y="1234440"/>
            <a:ext cx="182880" cy="1828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61320" y="1783080"/>
            <a:ext cx="118872" cy="118872"/>
          </a:xfrm>
          <a:prstGeom prst="ellipse">
            <a:avLst/>
          </a:prstGeom>
          <a:solidFill>
            <a:srgbClr val="DB9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2743200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01400" y="3063240"/>
            <a:ext cx="146304" cy="14630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64040" y="3977639"/>
            <a:ext cx="128016" cy="128016"/>
          </a:xfrm>
          <a:prstGeom prst="ellipse">
            <a:avLst/>
          </a:prstGeom>
          <a:solidFill>
            <a:srgbClr val="DB9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98480" y="4343400"/>
            <a:ext cx="219456" cy="219456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75720" y="2331720"/>
            <a:ext cx="91440" cy="91440"/>
          </a:xfrm>
          <a:prstGeom prst="ellipse">
            <a:avLst/>
          </a:prstGeom>
          <a:solidFill>
            <a:srgbClr val="DB9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098280" y="2240280"/>
            <a:ext cx="100584" cy="100584"/>
          </a:xfrm>
          <a:prstGeom prst="ellipse">
            <a:avLst/>
          </a:prstGeom>
          <a:solidFill>
            <a:srgbClr val="DB9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1325880"/>
            <a:ext cx="78638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DB992B"/>
                </a:solidFill>
                <a:latin typeface="Calibri"/>
              </a:rPr>
              <a:t>VISIONING WORKSHOP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1783080"/>
            <a:ext cx="822960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Cambria"/>
              </a:rPr>
              <a:t>The Human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Cambria"/>
              </a:rPr>
              <a:t>Intelligence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31920"/>
            <a:ext cx="768096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6D8EA"/>
                </a:solidFill>
                <a:latin typeface="Calibri"/>
              </a:rPr>
              <a:t>From two research programs that already work — to a system that makes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all our knowledge reusable.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806440"/>
            <a:ext cx="1031443" cy="457200"/>
          </a:xfrm>
          <a:prstGeom prst="roundRect">
            <a:avLst>
              <a:gd name="adj" fmla="val 50000"/>
            </a:avLst>
          </a:prstGeom>
          <a:solidFill>
            <a:srgbClr val="22324F"/>
          </a:solidFill>
          <a:ln w="12700">
            <a:solidFill>
              <a:srgbClr val="3A5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97296"/>
            <a:ext cx="1031443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6D8EA"/>
                </a:solidFill>
                <a:latin typeface="Calibri"/>
              </a:rPr>
              <a:t>Vision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73275" y="5806440"/>
            <a:ext cx="1355140" cy="457200"/>
          </a:xfrm>
          <a:prstGeom prst="roundRect">
            <a:avLst>
              <a:gd name="adj" fmla="val 50000"/>
            </a:avLst>
          </a:prstGeom>
          <a:solidFill>
            <a:srgbClr val="22324F"/>
          </a:solidFill>
          <a:ln w="12700">
            <a:solidFill>
              <a:srgbClr val="3A5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73275" y="5797296"/>
            <a:ext cx="13551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6D8EA"/>
                </a:solidFill>
                <a:latin typeface="Calibri"/>
              </a:rPr>
              <a:t>Use cases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93007" y="5806440"/>
            <a:ext cx="1678838" cy="457200"/>
          </a:xfrm>
          <a:prstGeom prst="roundRect">
            <a:avLst>
              <a:gd name="adj" fmla="val 50000"/>
            </a:avLst>
          </a:prstGeom>
          <a:solidFill>
            <a:srgbClr val="22324F"/>
          </a:solidFill>
          <a:ln w="12700">
            <a:solidFill>
              <a:srgbClr val="3A5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93007" y="5797296"/>
            <a:ext cx="1678838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6D8EA"/>
                </a:solidFill>
                <a:latin typeface="Calibri"/>
              </a:rPr>
              <a:t>1-yr roadmap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36438" y="5806440"/>
            <a:ext cx="1463039" cy="457200"/>
          </a:xfrm>
          <a:prstGeom prst="roundRect">
            <a:avLst>
              <a:gd name="adj" fmla="val 50000"/>
            </a:avLst>
          </a:prstGeom>
          <a:solidFill>
            <a:srgbClr val="22324F"/>
          </a:solidFill>
          <a:ln w="12700">
            <a:solidFill>
              <a:srgbClr val="3A5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6438" y="5797296"/>
            <a:ext cx="1463039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6D8EA"/>
                </a:solidFill>
                <a:latin typeface="Calibri"/>
              </a:rPr>
              <a:t>Milestones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64070" y="5806440"/>
            <a:ext cx="1463039" cy="457200"/>
          </a:xfrm>
          <a:prstGeom prst="roundRect">
            <a:avLst>
              <a:gd name="adj" fmla="val 50000"/>
            </a:avLst>
          </a:prstGeom>
          <a:solidFill>
            <a:srgbClr val="22324F"/>
          </a:solidFill>
          <a:ln w="12700">
            <a:solidFill>
              <a:srgbClr val="3A5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4070" y="5797296"/>
            <a:ext cx="1463039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6D8EA"/>
                </a:solidFill>
                <a:latin typeface="Calibri"/>
              </a:rPr>
              <a:t>Resourcing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B2433"/>
                </a:solidFill>
                <a:latin typeface="Cambria"/>
              </a:rPr>
              <a:t>Where we started: the MVP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42416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B6B80"/>
                </a:solidFill>
                <a:latin typeface="Calibri"/>
              </a:rPr>
              <a:t>Our research MVP set the vision. It's the right ambition — and, as drawn, a bit tangled.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6766560" cy="4160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577340" y="2377440"/>
            <a:ext cx="1988820" cy="1289304"/>
          </a:xfrm>
          <a:prstGeom prst="line">
            <a:avLst/>
          </a:prstGeom>
          <a:ln w="15240">
            <a:solidFill>
              <a:srgbClr val="B6C2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3566160" y="2286000"/>
            <a:ext cx="297179" cy="1380744"/>
          </a:xfrm>
          <a:prstGeom prst="line">
            <a:avLst/>
          </a:prstGeom>
          <a:ln w="15240">
            <a:solidFill>
              <a:srgbClr val="B6C2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0" y="2537460"/>
            <a:ext cx="91440" cy="1211579"/>
          </a:xfrm>
          <a:prstGeom prst="line">
            <a:avLst/>
          </a:prstGeom>
          <a:ln w="15240">
            <a:solidFill>
              <a:srgbClr val="B6C2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1577340" y="2377440"/>
            <a:ext cx="22860" cy="1463040"/>
          </a:xfrm>
          <a:prstGeom prst="line">
            <a:avLst/>
          </a:prstGeom>
          <a:ln w="15240">
            <a:solidFill>
              <a:srgbClr val="B6C2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66160" y="3666744"/>
            <a:ext cx="2468880" cy="82295"/>
          </a:xfrm>
          <a:prstGeom prst="line">
            <a:avLst/>
          </a:prstGeom>
          <a:ln w="15240">
            <a:solidFill>
              <a:srgbClr val="B6C2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566160" y="3666744"/>
            <a:ext cx="1417319" cy="1225296"/>
          </a:xfrm>
          <a:prstGeom prst="line">
            <a:avLst/>
          </a:prstGeom>
          <a:ln w="15240">
            <a:solidFill>
              <a:srgbClr val="B6C2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423160" y="3666744"/>
            <a:ext cx="1143000" cy="1179576"/>
          </a:xfrm>
          <a:prstGeom prst="line">
            <a:avLst/>
          </a:prstGeom>
          <a:ln w="15240">
            <a:solidFill>
              <a:srgbClr val="B6C2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63339" y="2286000"/>
            <a:ext cx="2080261" cy="251460"/>
          </a:xfrm>
          <a:prstGeom prst="line">
            <a:avLst/>
          </a:prstGeom>
          <a:ln w="15240">
            <a:solidFill>
              <a:srgbClr val="B6C2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3566160" y="3666744"/>
            <a:ext cx="1417319" cy="1225296"/>
          </a:xfrm>
          <a:prstGeom prst="line">
            <a:avLst/>
          </a:prstGeom>
          <a:ln w="15240">
            <a:solidFill>
              <a:srgbClr val="B6C2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3863339" y="2286000"/>
            <a:ext cx="2171701" cy="1463039"/>
          </a:xfrm>
          <a:prstGeom prst="line">
            <a:avLst/>
          </a:prstGeom>
          <a:ln w="15240">
            <a:solidFill>
              <a:srgbClr val="B6C2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880360" y="3246120"/>
            <a:ext cx="1417320" cy="868680"/>
          </a:xfrm>
          <a:prstGeom prst="ellipse">
            <a:avLst/>
          </a:prstGeom>
          <a:noFill/>
          <a:ln w="17780">
            <a:solidFill>
              <a:srgbClr val="DB99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2148840"/>
            <a:ext cx="1325880" cy="457200"/>
          </a:xfrm>
          <a:prstGeom prst="roundRect">
            <a:avLst>
              <a:gd name="adj" fmla="val 18000"/>
            </a:avLst>
          </a:prstGeom>
          <a:solidFill>
            <a:srgbClr val="E9F2F6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139696"/>
            <a:ext cx="13258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433"/>
                </a:solidFill>
                <a:latin typeface="Calibri"/>
              </a:rPr>
              <a:t>JTBD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2057400"/>
            <a:ext cx="1325880" cy="457200"/>
          </a:xfrm>
          <a:prstGeom prst="roundRect">
            <a:avLst>
              <a:gd name="adj" fmla="val 18000"/>
            </a:avLst>
          </a:prstGeom>
          <a:solidFill>
            <a:srgbClr val="E9F2F6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2048256"/>
            <a:ext cx="13258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433"/>
                </a:solidFill>
                <a:latin typeface="Calibri"/>
              </a:rPr>
              <a:t>Insights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2286000"/>
            <a:ext cx="1737360" cy="502920"/>
          </a:xfrm>
          <a:prstGeom prst="roundRect">
            <a:avLst>
              <a:gd name="adj" fmla="val 18000"/>
            </a:avLst>
          </a:prstGeom>
          <a:solidFill>
            <a:srgbClr val="FBF1DD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276856"/>
            <a:ext cx="173736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433"/>
                </a:solidFill>
                <a:latin typeface="Calibri"/>
              </a:rPr>
              <a:t>Synthetic users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3383280"/>
            <a:ext cx="1554480" cy="566928"/>
          </a:xfrm>
          <a:prstGeom prst="roundRect">
            <a:avLst>
              <a:gd name="adj" fmla="val 18000"/>
            </a:avLst>
          </a:prstGeom>
          <a:solidFill>
            <a:srgbClr val="E7ECF3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3374136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433"/>
                </a:solidFill>
                <a:latin typeface="Calibri"/>
              </a:rPr>
              <a:t>Data lake?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3611880"/>
            <a:ext cx="1463040" cy="457200"/>
          </a:xfrm>
          <a:prstGeom prst="roundRect">
            <a:avLst>
              <a:gd name="adj" fmla="val 18000"/>
            </a:avLst>
          </a:prstGeom>
          <a:solidFill>
            <a:srgbClr val="E7ECF3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602736"/>
            <a:ext cx="14630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433"/>
                </a:solidFill>
                <a:latin typeface="Calibri"/>
              </a:rPr>
              <a:t>Dashboards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3520440"/>
            <a:ext cx="1097280" cy="457200"/>
          </a:xfrm>
          <a:prstGeom prst="roundRect">
            <a:avLst>
              <a:gd name="adj" fmla="val 18000"/>
            </a:avLst>
          </a:prstGeom>
          <a:solidFill>
            <a:srgbClr val="E9F2F6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0" y="3511296"/>
            <a:ext cx="10972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433"/>
                </a:solidFill>
                <a:latin typeface="Calibri"/>
              </a:rPr>
              <a:t>Skills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83080" y="4617720"/>
            <a:ext cx="1280160" cy="457200"/>
          </a:xfrm>
          <a:prstGeom prst="roundRect">
            <a:avLst>
              <a:gd name="adj" fmla="val 18000"/>
            </a:avLst>
          </a:prstGeom>
          <a:solidFill>
            <a:srgbClr val="E7ECF3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83080" y="4608576"/>
            <a:ext cx="12801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433"/>
                </a:solidFill>
                <a:latin typeface="Calibri"/>
              </a:rPr>
              <a:t>Quant?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4663440"/>
            <a:ext cx="1554480" cy="457200"/>
          </a:xfrm>
          <a:prstGeom prst="roundRect">
            <a:avLst>
              <a:gd name="adj" fmla="val 18000"/>
            </a:avLst>
          </a:prstGeom>
          <a:solidFill>
            <a:srgbClr val="FBF1DD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4654296"/>
            <a:ext cx="155448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2433"/>
                </a:solidFill>
                <a:latin typeface="Calibri"/>
              </a:rPr>
              <a:t>AI / Claude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1874519"/>
            <a:ext cx="5486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DB992B"/>
                </a:solidFill>
                <a:latin typeface="Cambria"/>
              </a:rPr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2743200"/>
            <a:ext cx="384048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433"/>
                </a:solidFill>
                <a:latin typeface="Calibri"/>
              </a:rPr>
              <a:t>We can’t decide </a:t>
            </a:r>
            <a:r>
              <a:rPr sz="1800" b="0" i="1">
                <a:solidFill>
                  <a:srgbClr val="1B2433"/>
                </a:solidFill>
                <a:latin typeface="Calibri"/>
              </a:rPr>
              <a:t>how to build it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2433"/>
                </a:solidFill>
                <a:latin typeface="Calibri"/>
              </a:rPr>
              <a:t>until we get specific.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3840480"/>
            <a:ext cx="38404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0"/>
                </a:solidFill>
                <a:latin typeface="Calibri"/>
              </a:rPr>
              <a:t>The way to get specific is the use cases — that’s today.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B2433"/>
                </a:solidFill>
                <a:latin typeface="Cambria"/>
              </a:rPr>
              <a:t>It’s not hypothetical — two programs already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42416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B6B80"/>
                </a:solidFill>
                <a:latin typeface="Calibri"/>
              </a:rPr>
              <a:t>Reusable research works today when it’s structured and accessible.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285232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>
            <a:outerShdw blurRad="82296" dist="41148" dir="5400000" rotWithShape="0">
              <a:srgbClr val="1B243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19" y="219456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2176272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240280"/>
            <a:ext cx="40050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2556E"/>
                </a:solidFill>
                <a:latin typeface="Cambria"/>
              </a:rPr>
              <a:t>JTBD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4553712" cy="1554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C7293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Jobs-to-be-Done, accessed via a dashboard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C7293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Built knowledge over time; used again and again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C7293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Cut bespoke, duplicative research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5285232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>
            <a:outerShdw blurRad="82296" dist="41148" dir="5400000" rotWithShape="0">
              <a:srgbClr val="1B243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79" y="219456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2176272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240280"/>
            <a:ext cx="4005072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2556E"/>
                </a:solidFill>
                <a:latin typeface="Cambria"/>
              </a:rPr>
              <a:t>Critical task analysis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154680"/>
            <a:ext cx="4553712" cy="1554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C7293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Same pattern — structured, reusable, accessible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C7293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Kept delivering value long after the study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C7293"/>
                </a:solidFill>
                <a:latin typeface="Calibri"/>
              </a:rPr>
              <a:t>▸  </a:t>
            </a:r>
            <a:r>
              <a:rPr sz="1500" b="0" i="0">
                <a:solidFill>
                  <a:srgbClr val="1B2433"/>
                </a:solidFill>
                <a:latin typeface="Calibri"/>
              </a:rPr>
              <a:t>Reduced the need to re-run research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257800"/>
            <a:ext cx="6858000" cy="566928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5248656"/>
            <a:ext cx="685800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Structured + accessible = knowledge that keeps paying 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B2433"/>
                </a:solidFill>
                <a:latin typeface="Cambria"/>
              </a:rPr>
              <a:t>But reusable insights stay elusive — and the ground is shifting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285232" cy="3108960"/>
          </a:xfrm>
          <a:prstGeom prst="roundRect">
            <a:avLst>
              <a:gd name="adj" fmla="val 4500"/>
            </a:avLst>
          </a:prstGeom>
          <a:solidFill>
            <a:srgbClr val="FBF1DD"/>
          </a:solidFill>
          <a:ln w="12700">
            <a:solidFill>
              <a:srgbClr val="E8D8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DB9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3911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075688"/>
            <a:ext cx="4187952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B87C18"/>
                </a:solidFill>
                <a:latin typeface="Cambria"/>
              </a:rPr>
              <a:t>The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834640"/>
            <a:ext cx="4645152" cy="18288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DB992B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1B2433"/>
                </a:solidFill>
                <a:latin typeface="Calibri"/>
              </a:rPr>
              <a:t>Structured programs (JTBD, critical tasks) reuse well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DB992B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1B2433"/>
                </a:solidFill>
                <a:latin typeface="Calibri"/>
              </a:rPr>
              <a:t>Messy qualitative insights still don’t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DB992B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1B2433"/>
                </a:solidFill>
                <a:latin typeface="Calibri"/>
              </a:rPr>
              <a:t>Teams re-run research rather than dig up old findings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285232" cy="3108960"/>
          </a:xfrm>
          <a:prstGeom prst="roundRect">
            <a:avLst>
              <a:gd name="adj" fmla="val 4500"/>
            </a:avLst>
          </a:prstGeom>
          <a:solidFill>
            <a:srgbClr val="E9F2F6"/>
          </a:solidFill>
          <a:ln w="12700">
            <a:solidFill>
              <a:srgbClr val="CF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59" y="2057400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2039112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2075688"/>
            <a:ext cx="4187952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2556E"/>
                </a:solidFill>
                <a:latin typeface="Cambria"/>
              </a:rPr>
              <a:t>The moment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834640"/>
            <a:ext cx="4645152" cy="18288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1C7293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1B2433"/>
                </a:solidFill>
                <a:latin typeface="Calibri"/>
              </a:rPr>
              <a:t>Claude is changing how we work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1C7293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1B2433"/>
                </a:solidFill>
                <a:latin typeface="Calibri"/>
              </a:rPr>
              <a:t>What was impractical for insights is now in reach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1C7293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1B2433"/>
                </a:solidFill>
                <a:latin typeface="Calibri"/>
              </a:rPr>
              <a:t>The window to build this well is open now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57800"/>
            <a:ext cx="10908792" cy="566928"/>
          </a:xfrm>
          <a:prstGeom prst="roundRect">
            <a:avLst>
              <a:gd name="adj" fmla="val 40000"/>
            </a:avLst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248656"/>
            <a:ext cx="10908792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Today: understand the use cases, decide how we store &amp; access, and set a 1-year roadmap.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B2433"/>
                </a:solidFill>
                <a:latin typeface="Cambria"/>
              </a:rPr>
              <a:t>Why insights reuse failed before — and why now is different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440680" cy="3246120"/>
          </a:xfrm>
          <a:prstGeom prst="roundRect">
            <a:avLst>
              <a:gd name="adj" fmla="val 4500"/>
            </a:avLst>
          </a:prstGeom>
          <a:solidFill>
            <a:srgbClr val="F6ECE9"/>
          </a:solidFill>
          <a:ln w="12700">
            <a:solidFill>
              <a:srgbClr val="E3CF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075688"/>
            <a:ext cx="457200" cy="457200"/>
          </a:xfrm>
          <a:prstGeom prst="ellipse">
            <a:avLst/>
          </a:prstGeom>
          <a:solidFill>
            <a:srgbClr val="B0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075688"/>
            <a:ext cx="429768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04A3C"/>
                </a:solidFill>
                <a:latin typeface="Cambria"/>
              </a:rPr>
              <a:t>What killed it 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937760" cy="21031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B04A3C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1B2433"/>
                </a:solidFill>
                <a:latin typeface="Calibri"/>
              </a:rPr>
              <a:t>Taxonomy tax — </a:t>
            </a:r>
            <a:r>
              <a:rPr sz="1400" b="0" i="0">
                <a:solidFill>
                  <a:srgbClr val="1B2433"/>
                </a:solidFill>
                <a:latin typeface="Calibri"/>
              </a:rPr>
              <a:t>manual tagging nobody kept up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B04A3C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1B2433"/>
                </a:solidFill>
                <a:latin typeface="Calibri"/>
              </a:rPr>
              <a:t>Context death — </a:t>
            </a:r>
            <a:r>
              <a:rPr sz="1400" b="0" i="0">
                <a:solidFill>
                  <a:srgbClr val="1B2433"/>
                </a:solidFill>
                <a:latin typeface="Calibri"/>
              </a:rPr>
              <a:t>nuggets misused out of context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B04A3C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1B2433"/>
                </a:solidFill>
                <a:latin typeface="Calibri"/>
              </a:rPr>
              <a:t>Process-once — </a:t>
            </a:r>
            <a:r>
              <a:rPr sz="1400" b="0" i="0">
                <a:solidFill>
                  <a:srgbClr val="1B2433"/>
                </a:solidFill>
                <a:latin typeface="Calibri"/>
              </a:rPr>
              <a:t>catalog it that week, or lose it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B04A3C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1B2433"/>
                </a:solidFill>
                <a:latin typeface="Calibri"/>
              </a:rPr>
              <a:t>No demand-side pull — </a:t>
            </a:r>
            <a:r>
              <a:rPr sz="1400" b="0" i="0">
                <a:solidFill>
                  <a:srgbClr val="1B2433"/>
                </a:solidFill>
                <a:latin typeface="Calibri"/>
              </a:rPr>
              <a:t>nobody searched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285232" cy="3246120"/>
          </a:xfrm>
          <a:prstGeom prst="roundRect">
            <a:avLst>
              <a:gd name="adj" fmla="val 4500"/>
            </a:avLst>
          </a:prstGeom>
          <a:solidFill>
            <a:srgbClr val="E9F2F6"/>
          </a:solidFill>
          <a:ln w="12700">
            <a:solidFill>
              <a:srgbClr val="CF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60" y="2075688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57400"/>
            <a:ext cx="4572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75688"/>
            <a:ext cx="42062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556E"/>
                </a:solidFill>
                <a:latin typeface="Cambria"/>
              </a:rPr>
              <a:t>What changed — recently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88920"/>
            <a:ext cx="4800600" cy="21031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1B2433"/>
                </a:solidFill>
                <a:latin typeface="Calibri"/>
              </a:rPr>
              <a:t>Synthesis </a:t>
            </a:r>
            <a:r>
              <a:rPr sz="1400" b="0" i="0">
                <a:solidFill>
                  <a:srgbClr val="1B2433"/>
                </a:solidFill>
                <a:latin typeface="Calibri"/>
              </a:rPr>
              <a:t>is now trustworthy enough to act 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1B2433"/>
                </a:solidFill>
                <a:latin typeface="Calibri"/>
              </a:rPr>
              <a:t>The model does the structuring labor — </a:t>
            </a:r>
            <a:r>
              <a:rPr sz="1400" b="0" i="0">
                <a:solidFill>
                  <a:srgbClr val="1B2433"/>
                </a:solidFill>
                <a:latin typeface="Calibri"/>
              </a:rPr>
              <a:t>our extraction skill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1B2433"/>
                </a:solidFill>
                <a:latin typeface="Calibri"/>
              </a:rPr>
              <a:t>MCP </a:t>
            </a:r>
            <a:r>
              <a:rPr sz="1400" b="0" i="0">
                <a:solidFill>
                  <a:srgbClr val="1B2433"/>
                </a:solidFill>
                <a:latin typeface="Calibri"/>
              </a:rPr>
              <a:t>standardized the integration that killed projects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1B2433"/>
                </a:solidFill>
                <a:latin typeface="Calibri"/>
              </a:rPr>
              <a:t>Internal Claude </a:t>
            </a:r>
            <a:r>
              <a:rPr sz="1400" b="0" i="0">
                <a:solidFill>
                  <a:srgbClr val="1B2433"/>
                </a:solidFill>
                <a:latin typeface="Calibri"/>
              </a:rPr>
              <a:t>keeps data in-boundary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5257800"/>
            <a:ext cx="7772400" cy="548640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5248656"/>
            <a:ext cx="77724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blockers were labor, trust, and integration — not retrieval.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B2433"/>
                </a:solidFill>
                <a:latin typeface="Cambria"/>
              </a:rPr>
              <a:t>The key to building it: get the use cases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9601200" cy="21945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2600" b="0" i="0">
                <a:solidFill>
                  <a:srgbClr val="1B2433"/>
                </a:solidFill>
                <a:latin typeface="Calibri"/>
              </a:rPr>
              <a:t>The use case decides </a:t>
            </a:r>
            <a:r>
              <a:rPr sz="2600" b="1" i="0">
                <a:solidFill>
                  <a:srgbClr val="12556E"/>
                </a:solidFill>
                <a:latin typeface="Calibri"/>
              </a:rPr>
              <a:t>how we store and access the data</a:t>
            </a:r>
            <a:r>
              <a:rPr sz="2600" b="0" i="0">
                <a:solidFill>
                  <a:srgbClr val="1B2433"/>
                </a:solidFill>
                <a:latin typeface="Calibri"/>
              </a:rPr>
              <a:t> — and what it costs.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1B2433"/>
                </a:solidFill>
                <a:latin typeface="Calibri"/>
              </a:rPr>
              <a:t/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 i="0">
                <a:solidFill>
                  <a:srgbClr val="5B6B80"/>
                </a:solidFill>
                <a:latin typeface="Calibri"/>
              </a:rPr>
              <a:t>Get the use cases crisp, and the architecture almost picks itself. Stay vague, and we stall.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B2433"/>
                </a:solidFill>
                <a:latin typeface="Cambria"/>
              </a:rPr>
              <a:t>Why use cases decide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42416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B6B80"/>
                </a:solidFill>
                <a:latin typeface="Calibri"/>
              </a:rPr>
              <a:t>Same goal — “reuse our research” — resolves differently depending on the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4363516" cy="841248"/>
          </a:xfrm>
          <a:prstGeom prst="roundRect">
            <a:avLst>
              <a:gd name="adj" fmla="val 8000"/>
            </a:avLst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2148840"/>
            <a:ext cx="4089196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Use case (example)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3596" y="2148840"/>
            <a:ext cx="2945373" cy="841248"/>
          </a:xfrm>
          <a:prstGeom prst="roundRect">
            <a:avLst>
              <a:gd name="adj" fmla="val 8000"/>
            </a:avLst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68188" y="2148840"/>
            <a:ext cx="2671053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Kind of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48970" y="2148840"/>
            <a:ext cx="3599901" cy="841248"/>
          </a:xfrm>
          <a:prstGeom prst="roundRect">
            <a:avLst>
              <a:gd name="adj" fmla="val 8000"/>
            </a:avLst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3562" y="2148840"/>
            <a:ext cx="3325581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Where it lives / how we reach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54680"/>
            <a:ext cx="4363516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154680"/>
            <a:ext cx="4043476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1B2433"/>
                </a:solidFill>
                <a:latin typeface="Calibri"/>
              </a:rPr>
              <a:t>“What did users say about the settings page?”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3596" y="3154680"/>
            <a:ext cx="2945373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6476" y="3154680"/>
            <a:ext cx="2625333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B6B80"/>
                </a:solidFill>
                <a:latin typeface="Calibri"/>
              </a:rPr>
              <a:t>tactical lookup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48970" y="3154680"/>
            <a:ext cx="3599901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1850" y="3154680"/>
            <a:ext cx="3279861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556E"/>
                </a:solidFill>
                <a:latin typeface="Calibri"/>
              </a:rPr>
              <a:t>fetch / RAG → Glean now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60520"/>
            <a:ext cx="4363516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160520"/>
            <a:ext cx="4043476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1B2433"/>
                </a:solidFill>
                <a:latin typeface="Calibri"/>
              </a:rPr>
              <a:t>“How do outcomes compare across surveys?”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03596" y="4160520"/>
            <a:ext cx="2945373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6476" y="4160520"/>
            <a:ext cx="2625333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B6B80"/>
                </a:solidFill>
                <a:latin typeface="Calibri"/>
              </a:rPr>
              <a:t>cross-source synthesis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48970" y="4160520"/>
            <a:ext cx="3599901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1850" y="4160520"/>
            <a:ext cx="3279861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556E"/>
                </a:solidFill>
                <a:latin typeface="Calibri"/>
              </a:rPr>
              <a:t>the lake, queried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66360"/>
            <a:ext cx="4363516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5166360"/>
            <a:ext cx="4043476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1B2433"/>
                </a:solidFill>
                <a:latin typeface="Calibri"/>
              </a:rPr>
              <a:t>“What should our roadmap be, given everything?”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03596" y="5166360"/>
            <a:ext cx="2945373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86476" y="5166360"/>
            <a:ext cx="2625333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B6B80"/>
                </a:solidFill>
                <a:latin typeface="Calibri"/>
              </a:rPr>
              <a:t>judgment call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48970" y="5166360"/>
            <a:ext cx="3599901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1850" y="5166360"/>
            <a:ext cx="3279861" cy="8412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2556E"/>
                </a:solidFill>
                <a:latin typeface="Calibri"/>
              </a:rPr>
              <a:t>human-led, Claude assists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217920"/>
            <a:ext cx="1090879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B6B80"/>
                </a:solidFill>
                <a:latin typeface="Calibri"/>
              </a:rPr>
              <a:t>Specifics on the left → the build on the right. Cost rises as you move down: </a:t>
            </a:r>
            <a:r>
              <a:rPr sz="1350" b="1" i="0">
                <a:solidFill>
                  <a:srgbClr val="B87C18"/>
                </a:solidFill>
                <a:latin typeface="Calibri"/>
              </a:rPr>
              <a:t>fetch → synthesize → judge.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B2433"/>
                </a:solidFill>
                <a:latin typeface="Cambria"/>
              </a:rPr>
              <a:t>What we capture for each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42416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B6B80"/>
                </a:solidFill>
                <a:latin typeface="Calibri"/>
              </a:rPr>
              <a:t>Concrete questions, not abstract labels — we read the rest off the examples.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908792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>
            <a:outerShdw blurRad="82296" dist="41148" dir="5400000" rotWithShape="0">
              <a:srgbClr val="1B243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249424"/>
            <a:ext cx="329184" cy="3291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31136"/>
            <a:ext cx="329184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3657600" cy="6217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2433"/>
                </a:solidFill>
                <a:latin typeface="Cambria"/>
              </a:rPr>
              <a:t>Consumer &amp;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103120"/>
            <a:ext cx="6400800" cy="6217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0"/>
                </a:solidFill>
                <a:latin typeface="Calibri"/>
              </a:rPr>
              <a:t>who uses it, what call it feeds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71215"/>
            <a:ext cx="10908792" cy="621792"/>
          </a:xfrm>
          <a:prstGeom prst="roundRect">
            <a:avLst>
              <a:gd name="adj" fmla="val 12000"/>
            </a:avLst>
          </a:prstGeom>
          <a:solidFill>
            <a:srgbClr val="FBF1DD"/>
          </a:solidFill>
          <a:ln w="12700">
            <a:solidFill>
              <a:srgbClr val="E8D8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017520"/>
            <a:ext cx="329184" cy="329184"/>
          </a:xfrm>
          <a:prstGeom prst="ellipse">
            <a:avLst/>
          </a:prstGeom>
          <a:solidFill>
            <a:srgbClr val="DB9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99232"/>
            <a:ext cx="329184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871215"/>
            <a:ext cx="3657600" cy="6217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2433"/>
                </a:solidFill>
                <a:latin typeface="Cambria"/>
              </a:rPr>
              <a:t>Example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871215"/>
            <a:ext cx="6400800" cy="6217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0"/>
                </a:solidFill>
                <a:latin typeface="Calibri"/>
              </a:rPr>
              <a:t>2–3 real questions they’d actually ask — the anchor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39311"/>
            <a:ext cx="10908792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>
            <a:outerShdw blurRad="82296" dist="41148" dir="5400000" rotWithShape="0">
              <a:srgbClr val="1B243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3785615"/>
            <a:ext cx="329184" cy="3291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767328"/>
            <a:ext cx="329184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639311"/>
            <a:ext cx="3657600" cy="6217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2433"/>
                </a:solidFill>
                <a:latin typeface="Cambria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639311"/>
            <a:ext cx="6400800" cy="6217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0"/>
                </a:solidFill>
                <a:latin typeface="Calibri"/>
              </a:rPr>
              <a:t>what we hand back (quote, list, summary, recommendation)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07407"/>
            <a:ext cx="10908792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>
            <a:outerShdw blurRad="82296" dist="41148" dir="5400000" rotWithShape="0">
              <a:srgbClr val="1B243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4553712"/>
            <a:ext cx="329184" cy="3291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35424"/>
            <a:ext cx="329184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07407"/>
            <a:ext cx="3657600" cy="6217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2433"/>
                </a:solidFill>
                <a:latin typeface="Cambria"/>
              </a:rPr>
              <a:t>Data: sources, sensitivity &amp; fidelity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407407"/>
            <a:ext cx="6400800" cy="6217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0"/>
                </a:solidFill>
                <a:latin typeface="Calibri"/>
              </a:rPr>
              <a:t>which sources (internal/external, how sensitive) + what the answer must carry (provenance, freshness)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175503"/>
            <a:ext cx="10908792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>
            <a:outerShdw blurRad="82296" dist="41148" dir="5400000" rotWithShape="0">
              <a:srgbClr val="1B243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80" y="5321807"/>
            <a:ext cx="329184" cy="32918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303520"/>
            <a:ext cx="329184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175503"/>
            <a:ext cx="3657600" cy="6217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2433"/>
                </a:solidFill>
                <a:latin typeface="Cambria"/>
              </a:rPr>
              <a:t>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5175503"/>
            <a:ext cx="6400800" cy="6217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B80"/>
                </a:solidFill>
                <a:latin typeface="Calibri"/>
              </a:rPr>
              <a:t>how much getting it right matters — for prioritizing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61887"/>
            <a:ext cx="1090879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556E"/>
                </a:solidFill>
                <a:latin typeface="Calibri"/>
              </a:rPr>
              <a:t>Read off the examples: </a:t>
            </a:r>
            <a:r>
              <a:rPr sz="1250" b="0" i="1">
                <a:solidFill>
                  <a:srgbClr val="5B6B80"/>
                </a:solidFill>
                <a:latin typeface="Calibri"/>
              </a:rPr>
              <a:t>question type (lookup ↔ synthesis) and judgment. PDLC stage is captured by where the use case came 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B2433"/>
                </a:solidFill>
                <a:latin typeface="Cambria"/>
              </a:rPr>
              <a:t>The same parts — organized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42416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B6B80"/>
                </a:solidFill>
                <a:latin typeface="Calibri"/>
              </a:rPr>
              <a:t>Her diagram, cleared up: three layers.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08792" cy="1325880"/>
          </a:xfrm>
          <a:prstGeom prst="roundRect">
            <a:avLst>
              <a:gd name="adj" fmla="val 5000"/>
            </a:avLst>
          </a:prstGeom>
          <a:solidFill>
            <a:srgbClr val="FBF1DD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DB9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02536"/>
            <a:ext cx="2514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Cambria"/>
              </a:rPr>
              <a:t>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96312"/>
            <a:ext cx="2514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CF2F8"/>
                </a:solidFill>
                <a:latin typeface="Calibri"/>
              </a:rPr>
              <a:t>what people do with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965960"/>
            <a:ext cx="1824228" cy="42062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956816"/>
            <a:ext cx="1824228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433"/>
                </a:solidFill>
                <a:latin typeface="Calibri"/>
              </a:rPr>
              <a:t>Tactical lookup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4708" y="1965960"/>
            <a:ext cx="2496312" cy="42062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4708" y="1956816"/>
            <a:ext cx="2496312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433"/>
                </a:solidFill>
                <a:latin typeface="Calibri"/>
              </a:rPr>
              <a:t>Cross-source synthesis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43900" y="1965960"/>
            <a:ext cx="1824228" cy="42062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3900" y="1956816"/>
            <a:ext cx="1824228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433"/>
                </a:solidFill>
                <a:latin typeface="Calibri"/>
              </a:rPr>
              <a:t>POV-deck assist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505456"/>
            <a:ext cx="1536192" cy="42062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496312"/>
            <a:ext cx="1536192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433"/>
                </a:solidFill>
                <a:latin typeface="Calibri"/>
              </a:rPr>
              <a:t>Gap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76672" y="2505456"/>
            <a:ext cx="1824228" cy="42062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76672" y="2496312"/>
            <a:ext cx="1824228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433"/>
                </a:solidFill>
                <a:latin typeface="Calibri"/>
              </a:rPr>
              <a:t>Synthetic users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55263"/>
            <a:ext cx="10908792" cy="1325880"/>
          </a:xfrm>
          <a:prstGeom prst="roundRect">
            <a:avLst>
              <a:gd name="adj" fmla="val 5000"/>
            </a:avLst>
          </a:prstGeom>
          <a:solidFill>
            <a:srgbClr val="E9F2F6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255263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74720"/>
            <a:ext cx="2514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Cambria"/>
              </a:rPr>
              <a:t>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68496"/>
            <a:ext cx="2514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CF2F8"/>
                </a:solidFill>
                <a:latin typeface="Calibri"/>
              </a:rPr>
              <a:t>how Claude reads &amp; reasons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3707891"/>
            <a:ext cx="672084" cy="42062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3698748"/>
            <a:ext cx="67208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433"/>
                </a:solidFill>
                <a:latin typeface="Calibri"/>
              </a:rPr>
              <a:t>MCP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12564" y="3707891"/>
            <a:ext cx="1824228" cy="42062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2564" y="3698748"/>
            <a:ext cx="1824228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433"/>
                </a:solidFill>
                <a:latin typeface="Calibri"/>
              </a:rPr>
              <a:t>Retrieval (RAG)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19672" y="3707891"/>
            <a:ext cx="960120" cy="42062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3698748"/>
            <a:ext cx="9601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433"/>
                </a:solidFill>
                <a:latin typeface="Calibri"/>
              </a:rPr>
              <a:t>Skills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727448"/>
            <a:ext cx="10908792" cy="1325880"/>
          </a:xfrm>
          <a:prstGeom prst="roundRect">
            <a:avLst>
              <a:gd name="adj" fmla="val 5000"/>
            </a:avLst>
          </a:prstGeom>
          <a:solidFill>
            <a:srgbClr val="E7ECF3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4727448"/>
            <a:ext cx="2743200" cy="1325880"/>
          </a:xfrm>
          <a:prstGeom prst="roundRect">
            <a:avLst>
              <a:gd name="adj" fmla="val 5000"/>
            </a:avLst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946904"/>
            <a:ext cx="2514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Cambria"/>
              </a:rPr>
              <a:t>ASSETS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440680"/>
            <a:ext cx="2514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ECF2F8"/>
                </a:solidFill>
                <a:latin typeface="Calibri"/>
              </a:rPr>
              <a:t>the knowledge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0" y="4910328"/>
            <a:ext cx="2016252" cy="42062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4901184"/>
            <a:ext cx="2016252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433"/>
                </a:solidFill>
                <a:latin typeface="Calibri"/>
              </a:rPr>
              <a:t>JTBD (structured)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56732" y="4910328"/>
            <a:ext cx="2592324" cy="42062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6732" y="4901184"/>
            <a:ext cx="259232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433"/>
                </a:solidFill>
                <a:latin typeface="Calibri"/>
              </a:rPr>
              <a:t>Insights (unstructured)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31936" y="4910328"/>
            <a:ext cx="1440180" cy="42062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31936" y="4901184"/>
            <a:ext cx="144018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433"/>
                </a:solidFill>
                <a:latin typeface="Calibri"/>
              </a:rPr>
              <a:t>Survey data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0" y="5449824"/>
            <a:ext cx="1632204" cy="42062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0" y="5440680"/>
            <a:ext cx="1632204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2433"/>
                </a:solidFill>
                <a:latin typeface="Calibri"/>
              </a:rPr>
              <a:t>External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B6B80"/>
                </a:solidFill>
                <a:latin typeface="Calibri"/>
              </a:rPr>
              <a:t>The durable </a:t>
            </a:r>
            <a:r>
              <a:rPr sz="1300" b="1" i="1">
                <a:solidFill>
                  <a:srgbClr val="1B2433"/>
                </a:solidFill>
                <a:latin typeface="Calibri"/>
              </a:rPr>
              <a:t>system</a:t>
            </a:r>
            <a:r>
              <a:rPr sz="1300" b="0" i="1">
                <a:solidFill>
                  <a:srgbClr val="5B6B80"/>
                </a:solidFill>
                <a:latin typeface="Calibri"/>
              </a:rPr>
              <a:t> is the bottom two layers; today’s ideation fills the top. Skills live in Access — they’re method.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B2433"/>
                </a:solidFill>
                <a:latin typeface="Cambria"/>
              </a:rPr>
              <a:t>Synthetic users: a flagship application — and why it’s different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>
            <a:outerShdw blurRad="82296" dist="41148" dir="5400000" rotWithShape="0">
              <a:srgbClr val="1B243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2011679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93391"/>
            <a:ext cx="5486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020824"/>
            <a:ext cx="41148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C7293"/>
                </a:solidFill>
                <a:latin typeface="Cambria"/>
              </a:rPr>
              <a:t>Analysis skill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651760"/>
            <a:ext cx="4626864" cy="457200"/>
          </a:xfrm>
          <a:prstGeom prst="roundRect">
            <a:avLst>
              <a:gd name="adj" fmla="val 30000"/>
            </a:avLst>
          </a:prstGeom>
          <a:solidFill>
            <a:srgbClr val="E9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642615"/>
            <a:ext cx="4626864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2556E"/>
                </a:solidFill>
                <a:latin typeface="Calibri"/>
              </a:rPr>
              <a:t>organizes REAL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18688"/>
            <a:ext cx="4480560" cy="6400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 i="0">
                <a:solidFill>
                  <a:srgbClr val="1C7293"/>
                </a:solidFill>
                <a:latin typeface="Calibri"/>
              </a:rPr>
              <a:t>▸  </a:t>
            </a:r>
            <a:r>
              <a:rPr sz="1280" b="0" i="0">
                <a:solidFill>
                  <a:srgbClr val="1B2433"/>
                </a:solidFill>
                <a:latin typeface="Calibri"/>
              </a:rPr>
              <a:t>grounded · auditable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 i="0">
                <a:solidFill>
                  <a:srgbClr val="1C7293"/>
                </a:solidFill>
                <a:latin typeface="Calibri"/>
              </a:rPr>
              <a:t>▸  </a:t>
            </a:r>
            <a:r>
              <a:rPr sz="1280" b="0" i="0">
                <a:solidFill>
                  <a:srgbClr val="1B2433"/>
                </a:solidFill>
                <a:latin typeface="Calibri"/>
              </a:rPr>
              <a:t>traces to a real source (quote + source + context)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173736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>
            <a:outerShdw blurRad="82296" dist="41148" dir="5400000" rotWithShape="0">
              <a:srgbClr val="1B243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29400" y="2011679"/>
            <a:ext cx="548640" cy="548640"/>
          </a:xfrm>
          <a:prstGeom prst="ellipse">
            <a:avLst/>
          </a:prstGeom>
          <a:solidFill>
            <a:srgbClr val="DB9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993391"/>
            <a:ext cx="54864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912" y="2020824"/>
            <a:ext cx="41148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B992B"/>
                </a:solidFill>
                <a:latin typeface="Cambria"/>
              </a:rPr>
              <a:t>Synthetic user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2651760"/>
            <a:ext cx="4626864" cy="457200"/>
          </a:xfrm>
          <a:prstGeom prst="roundRect">
            <a:avLst>
              <a:gd name="adj" fmla="val 30000"/>
            </a:avLst>
          </a:prstGeom>
          <a:solidFill>
            <a:srgbClr val="FB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642615"/>
            <a:ext cx="4626864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87C18"/>
                </a:solidFill>
                <a:latin typeface="Calibri"/>
              </a:rPr>
              <a:t>manufactures SIMULATED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3218688"/>
            <a:ext cx="4480560" cy="6400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 i="0">
                <a:solidFill>
                  <a:srgbClr val="DB992B"/>
                </a:solidFill>
                <a:latin typeface="Calibri"/>
              </a:rPr>
              <a:t>▸  </a:t>
            </a:r>
            <a:r>
              <a:rPr sz="1280" b="0" i="0">
                <a:solidFill>
                  <a:srgbClr val="1B2433"/>
                </a:solidFill>
                <a:latin typeface="Calibri"/>
              </a:rPr>
              <a:t>a model’s guess · no ground truth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 i="0">
                <a:solidFill>
                  <a:srgbClr val="DB992B"/>
                </a:solidFill>
                <a:latin typeface="Calibri"/>
              </a:rPr>
              <a:t>▸  </a:t>
            </a:r>
            <a:r>
              <a:rPr sz="1280" b="0" i="0">
                <a:solidFill>
                  <a:srgbClr val="1B2433"/>
                </a:solidFill>
                <a:latin typeface="Calibri"/>
              </a:rPr>
              <a:t>can’t be audited to a real person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4114800"/>
            <a:ext cx="7223760" cy="530352"/>
          </a:xfrm>
          <a:prstGeom prst="roundRect">
            <a:avLst>
              <a:gd name="adj" fmla="val 50000"/>
            </a:avLst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4105656"/>
            <a:ext cx="722376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Same building blocks — Claude + instructions + grounding.  Opposite jobs.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92040"/>
            <a:ext cx="2535174" cy="868680"/>
          </a:xfrm>
          <a:prstGeom prst="roundRect">
            <a:avLst>
              <a:gd name="adj" fmla="val 9000"/>
            </a:avLst>
          </a:prstGeom>
          <a:solidFill>
            <a:srgbClr val="E9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937760"/>
            <a:ext cx="2315718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B2433"/>
                </a:solidFill>
                <a:latin typeface="Calibri"/>
              </a:rPr>
              <a:t>Only part that creates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31286" y="4892040"/>
            <a:ext cx="2535174" cy="868680"/>
          </a:xfrm>
          <a:prstGeom prst="roundRect">
            <a:avLst>
              <a:gd name="adj" fmla="val 9000"/>
            </a:avLst>
          </a:prstGeom>
          <a:solidFill>
            <a:srgbClr val="E9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41014" y="4937760"/>
            <a:ext cx="2315718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B2433"/>
                </a:solidFill>
                <a:latin typeface="Calibri"/>
              </a:rPr>
              <a:t>Different risk &amp; governance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2492" y="4892040"/>
            <a:ext cx="2535174" cy="868680"/>
          </a:xfrm>
          <a:prstGeom prst="roundRect">
            <a:avLst>
              <a:gd name="adj" fmla="val 9000"/>
            </a:avLst>
          </a:prstGeom>
          <a:solidFill>
            <a:srgbClr val="E9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2220" y="4937760"/>
            <a:ext cx="2315718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B2433"/>
                </a:solidFill>
                <a:latin typeface="Calibri"/>
              </a:rPr>
              <a:t>Pre-work, never validation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13698" y="4892040"/>
            <a:ext cx="2535174" cy="868680"/>
          </a:xfrm>
          <a:prstGeom prst="roundRect">
            <a:avLst>
              <a:gd name="adj" fmla="val 9000"/>
            </a:avLst>
          </a:prstGeom>
          <a:solidFill>
            <a:srgbClr val="FB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3426" y="4937760"/>
            <a:ext cx="2315718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B2433"/>
                </a:solidFill>
                <a:latin typeface="Calibri"/>
              </a:rPr>
              <a:t>Consumes the whole lake → build internally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B2433"/>
                </a:solidFill>
                <a:latin typeface="Cambria"/>
              </a:rPr>
              <a:t>What the system enables in 1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42416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B6B80"/>
                </a:solidFill>
                <a:latin typeface="Calibri"/>
              </a:rPr>
              <a:t>A strawman — and the basis for our roadmap.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4406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>
            <a:outerShdw blurRad="82296" dist="41148" dir="5400000" rotWithShape="0">
              <a:srgbClr val="1B243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49377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556E"/>
                </a:solidFill>
                <a:latin typeface="Cambria"/>
              </a:rPr>
              <a:t>What it enables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937760" cy="30175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1C7293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1B2433"/>
                </a:solidFill>
                <a:latin typeface="Calibri"/>
              </a:rPr>
              <a:t>Tactical questions answered in minutes, not days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1C7293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1B2433"/>
                </a:solidFill>
                <a:latin typeface="Calibri"/>
              </a:rPr>
              <a:t>JTBD reusable across the products that need it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1C7293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1B2433"/>
                </a:solidFill>
                <a:latin typeface="Calibri"/>
              </a:rPr>
              <a:t>No duplicate studies on saturated topics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1C7293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1B2433"/>
                </a:solidFill>
                <a:latin typeface="Calibri"/>
              </a:rPr>
              <a:t>Synthetic users pretest studies before we recruit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 i="0">
                <a:solidFill>
                  <a:srgbClr val="1C7293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1B2433"/>
                </a:solidFill>
                <a:latin typeface="Calibri"/>
              </a:rPr>
              <a:t>Provenance preserved end-to-end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52120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87C18"/>
                </a:solidFill>
                <a:latin typeface="Cambria"/>
              </a:rPr>
              <a:t>Candidate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331720"/>
            <a:ext cx="2542032" cy="1078992"/>
          </a:xfrm>
          <a:prstGeom prst="roundRect">
            <a:avLst>
              <a:gd name="adj" fmla="val 8000"/>
            </a:avLst>
          </a:prstGeom>
          <a:solidFill>
            <a:srgbClr val="E9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478024"/>
            <a:ext cx="64008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556E"/>
                </a:solidFill>
                <a:latin typeface="Calibri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31720"/>
            <a:ext cx="1673351" cy="10789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2433"/>
                </a:solidFill>
                <a:latin typeface="Calibri"/>
              </a:rPr>
              <a:t>Time-to-insight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5128" y="2331720"/>
            <a:ext cx="2542032" cy="1078992"/>
          </a:xfrm>
          <a:prstGeom prst="roundRect">
            <a:avLst>
              <a:gd name="adj" fmla="val 8000"/>
            </a:avLst>
          </a:prstGeom>
          <a:solidFill>
            <a:srgbClr val="FB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2478024"/>
            <a:ext cx="64008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B87C18"/>
                </a:solidFill>
                <a:latin typeface="Calibri"/>
              </a:rPr>
              <a:t>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02368" y="2331720"/>
            <a:ext cx="1673351" cy="10789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2433"/>
                </a:solidFill>
                <a:latin typeface="Calibri"/>
              </a:rPr>
              <a:t>Decisions citing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2433"/>
                </a:solidFill>
                <a:latin typeface="Calibri"/>
              </a:rPr>
              <a:t>existing research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557015"/>
            <a:ext cx="2542032" cy="1078992"/>
          </a:xfrm>
          <a:prstGeom prst="roundRect">
            <a:avLst>
              <a:gd name="adj" fmla="val 8000"/>
            </a:avLst>
          </a:prstGeom>
          <a:solidFill>
            <a:srgbClr val="E9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3703320"/>
            <a:ext cx="64008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556E"/>
                </a:solidFill>
                <a:latin typeface="Calibri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557015"/>
            <a:ext cx="1673351" cy="10789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2433"/>
                </a:solidFill>
                <a:latin typeface="Calibri"/>
              </a:rPr>
              <a:t>Duplicate studies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5128" y="3557015"/>
            <a:ext cx="2542032" cy="1078992"/>
          </a:xfrm>
          <a:prstGeom prst="roundRect">
            <a:avLst>
              <a:gd name="adj" fmla="val 8000"/>
            </a:avLst>
          </a:prstGeom>
          <a:solidFill>
            <a:srgbClr val="FB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3703320"/>
            <a:ext cx="64008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B87C18"/>
                </a:solidFill>
                <a:latin typeface="Calibri"/>
              </a:rPr>
              <a:t>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2368" y="3557015"/>
            <a:ext cx="1673351" cy="10789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2433"/>
                </a:solidFill>
                <a:latin typeface="Calibri"/>
              </a:rPr>
              <a:t>Adoption /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2433"/>
                </a:solidFill>
                <a:latin typeface="Calibri"/>
              </a:rPr>
              <a:t>active users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782312"/>
            <a:ext cx="2542032" cy="1078992"/>
          </a:xfrm>
          <a:prstGeom prst="roundRect">
            <a:avLst>
              <a:gd name="adj" fmla="val 8000"/>
            </a:avLst>
          </a:prstGeom>
          <a:solidFill>
            <a:srgbClr val="E9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4928616"/>
            <a:ext cx="64008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2556E"/>
                </a:solidFill>
                <a:latin typeface="Calibri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782312"/>
            <a:ext cx="1673351" cy="10789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2433"/>
                </a:solidFill>
                <a:latin typeface="Calibri"/>
              </a:rPr>
              <a:t>Research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2433"/>
                </a:solidFill>
                <a:latin typeface="Calibri"/>
              </a:rPr>
              <a:t>cycle-time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25128" y="4782312"/>
            <a:ext cx="2542032" cy="1078992"/>
          </a:xfrm>
          <a:prstGeom prst="roundRect">
            <a:avLst>
              <a:gd name="adj" fmla="val 8000"/>
            </a:avLst>
          </a:prstGeom>
          <a:solidFill>
            <a:srgbClr val="FB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4928616"/>
            <a:ext cx="64008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B87C18"/>
                </a:solidFill>
                <a:latin typeface="Calibri"/>
              </a:rPr>
              <a:t>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8" y="4782312"/>
            <a:ext cx="1673351" cy="10789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B2433"/>
                </a:solidFill>
                <a:latin typeface="Calibri"/>
              </a:rPr>
              <a:t>Cost avoided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mbria"/>
              </a:rPr>
              <a:t>How we’ll work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5285232" cy="2788920"/>
          </a:xfrm>
          <a:prstGeom prst="roundRect">
            <a:avLst>
              <a:gd name="adj" fmla="val 6000"/>
            </a:avLst>
          </a:prstGeom>
          <a:solidFill>
            <a:srgbClr val="22324F"/>
          </a:solidFill>
          <a:ln w="12700">
            <a:solidFill>
              <a:srgbClr val="3A5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19" y="1783080"/>
            <a:ext cx="464515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Cambria"/>
              </a:rPr>
              <a:t>Morning — diverge on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2331720"/>
            <a:ext cx="46451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1C7293"/>
                </a:solidFill>
                <a:latin typeface="Cambria"/>
              </a:rPr>
              <a:t>1.  </a:t>
            </a:r>
            <a:r>
              <a:rPr sz="1350" b="0" i="0">
                <a:solidFill>
                  <a:srgbClr val="C6D8EA"/>
                </a:solidFill>
                <a:latin typeface="Calibri"/>
              </a:rPr>
              <a:t>Frame the vision &amp; the lens (now)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1C7293"/>
                </a:solidFill>
                <a:latin typeface="Cambria"/>
              </a:rPr>
              <a:t>2.  </a:t>
            </a:r>
            <a:r>
              <a:rPr sz="1350" b="0" i="0">
                <a:solidFill>
                  <a:srgbClr val="C6D8EA"/>
                </a:solidFill>
                <a:latin typeface="Calibri"/>
              </a:rPr>
              <a:t>Ideate use cases along the PDLC — capture the card for each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1C7293"/>
                </a:solidFill>
                <a:latin typeface="Cambria"/>
              </a:rPr>
              <a:t>3.  </a:t>
            </a:r>
            <a:r>
              <a:rPr sz="1350" b="0" i="0">
                <a:solidFill>
                  <a:srgbClr val="C6D8EA"/>
                </a:solidFill>
                <a:latin typeface="Calibri"/>
              </a:rPr>
              <a:t>Synthetic-users mini-round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1C7293"/>
                </a:solidFill>
                <a:latin typeface="Cambria"/>
              </a:rPr>
              <a:t>4.  </a:t>
            </a:r>
            <a:r>
              <a:rPr sz="1350" b="0" i="0">
                <a:solidFill>
                  <a:srgbClr val="C6D8EA"/>
                </a:solidFill>
                <a:latin typeface="Calibri"/>
              </a:rPr>
              <a:t>Cluster &amp; prioritize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285232" cy="2788920"/>
          </a:xfrm>
          <a:prstGeom prst="roundRect">
            <a:avLst>
              <a:gd name="adj" fmla="val 6000"/>
            </a:avLst>
          </a:prstGeom>
          <a:solidFill>
            <a:srgbClr val="22324F"/>
          </a:solidFill>
          <a:ln w="12700">
            <a:solidFill>
              <a:srgbClr val="3A5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79" y="1783080"/>
            <a:ext cx="464515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FFFFF"/>
                </a:solidFill>
                <a:latin typeface="Cambria"/>
              </a:rPr>
              <a:t>Afternoon — converge on how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79" y="2331720"/>
            <a:ext cx="46451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DB992B"/>
                </a:solidFill>
                <a:latin typeface="Cambria"/>
              </a:rPr>
              <a:t>1.  </a:t>
            </a:r>
            <a:r>
              <a:rPr sz="1350" b="0" i="0">
                <a:solidFill>
                  <a:srgbClr val="C6D8EA"/>
                </a:solidFill>
                <a:latin typeface="Calibri"/>
              </a:rPr>
              <a:t>Storage &amp; retrieval options (on-ramp)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DB992B"/>
                </a:solidFill>
                <a:latin typeface="Cambria"/>
              </a:rPr>
              <a:t>2.  </a:t>
            </a:r>
            <a:r>
              <a:rPr sz="1350" b="0" i="0">
                <a:solidFill>
                  <a:srgbClr val="C6D8EA"/>
                </a:solidFill>
                <a:latin typeface="Calibri"/>
              </a:rPr>
              <a:t>Data &amp; architecture deep-dive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 i="0">
                <a:solidFill>
                  <a:srgbClr val="DB992B"/>
                </a:solidFill>
                <a:latin typeface="Cambria"/>
              </a:rPr>
              <a:t>3.  </a:t>
            </a:r>
            <a:r>
              <a:rPr sz="1350" b="0" i="0">
                <a:solidFill>
                  <a:srgbClr val="C6D8EA"/>
                </a:solidFill>
                <a:latin typeface="Calibri"/>
              </a:rPr>
              <a:t>Milestones + skills &amp; resourcing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572000"/>
            <a:ext cx="10908792" cy="777240"/>
          </a:xfrm>
          <a:prstGeom prst="roundRect">
            <a:avLst>
              <a:gd name="adj" fmla="val 8000"/>
            </a:avLst>
          </a:prstGeom>
          <a:solidFill>
            <a:srgbClr val="332C18"/>
          </a:solidFill>
          <a:ln w="15240">
            <a:solidFill>
              <a:srgbClr val="DB9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4736592"/>
            <a:ext cx="438912" cy="438912"/>
          </a:xfrm>
          <a:prstGeom prst="ellipse">
            <a:avLst/>
          </a:prstGeom>
          <a:solidFill>
            <a:srgbClr val="DB9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18304"/>
            <a:ext cx="438912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233D"/>
                </a:solidFill>
                <a:latin typeface="Cambria"/>
              </a:rP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636008"/>
            <a:ext cx="987552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B992B"/>
                </a:solidFill>
                <a:latin typeface="Calibri"/>
              </a:rPr>
              <a:t>Parking lot:  </a:t>
            </a:r>
            <a:r>
              <a:rPr sz="1350" b="0" i="0">
                <a:solidFill>
                  <a:srgbClr val="C6D8EA"/>
                </a:solidFill>
                <a:latin typeface="Calibri"/>
              </a:rPr>
              <a:t>inputs &amp; data-structure questions land here until the afternoon block — designed for prioritized use cases, not in a vacuum.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532120"/>
            <a:ext cx="10908792" cy="566928"/>
          </a:xfrm>
          <a:prstGeom prst="roundRect">
            <a:avLst>
              <a:gd name="adj" fmla="val 3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522976"/>
            <a:ext cx="10908792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We leave with: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prioritized use cases  ·  draft milestones  ·  people to line up.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B2433"/>
                </a:solidFill>
                <a:latin typeface="Cambria"/>
              </a:rPr>
              <a:t>Appendix — shared vocabulary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271516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" y="2084831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19" y="1901952"/>
            <a:ext cx="435711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433"/>
                </a:solidFill>
                <a:latin typeface="Cambria"/>
              </a:rPr>
              <a:t>JTBD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2258568"/>
            <a:ext cx="435711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5B6B80"/>
                </a:solidFill>
                <a:latin typeface="Calibri"/>
              </a:rPr>
              <a:t>Jobs-to-be-Done — structured framing of what users are trying to accomplish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7356" y="1783080"/>
            <a:ext cx="5271516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33388" y="2084831"/>
            <a:ext cx="365760" cy="365760"/>
          </a:xfrm>
          <a:prstGeom prst="ellipse">
            <a:avLst/>
          </a:prstGeom>
          <a:solidFill>
            <a:srgbClr val="DB9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54596" y="1901952"/>
            <a:ext cx="435711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433"/>
                </a:solidFill>
                <a:latin typeface="Cambria"/>
              </a:rPr>
              <a:t>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4596" y="2258568"/>
            <a:ext cx="435711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5B6B80"/>
                </a:solidFill>
                <a:latin typeface="Calibri"/>
              </a:rPr>
              <a:t>Findings from research — unstructured, contextual, prone to going stale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71215"/>
            <a:ext cx="5271516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6112" y="3172968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19" y="2990087"/>
            <a:ext cx="435711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433"/>
                </a:solidFill>
                <a:latin typeface="Cambria"/>
              </a:rPr>
              <a:t>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346703"/>
            <a:ext cx="435711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5B6B80"/>
                </a:solidFill>
                <a:latin typeface="Calibri"/>
              </a:rPr>
              <a:t>Retrieval-augmented generation — semantic search that feeds relevant text to the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7356" y="2871215"/>
            <a:ext cx="5271516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33388" y="3172968"/>
            <a:ext cx="365760" cy="365760"/>
          </a:xfrm>
          <a:prstGeom prst="ellipse">
            <a:avLst/>
          </a:prstGeom>
          <a:solidFill>
            <a:srgbClr val="DB9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4596" y="2990087"/>
            <a:ext cx="435711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433"/>
                </a:solidFill>
                <a:latin typeface="Cambria"/>
              </a:rPr>
              <a:t>GraphRAG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4596" y="3346703"/>
            <a:ext cx="435711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5B6B80"/>
                </a:solidFill>
                <a:latin typeface="Calibri"/>
              </a:rPr>
              <a:t>A graph layer + community summaries on top of RAG, for global synthesis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59352"/>
            <a:ext cx="5271516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4261104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19" y="4078224"/>
            <a:ext cx="435711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433"/>
                </a:solidFill>
                <a:latin typeface="Cambria"/>
              </a:rPr>
              <a:t>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4434840"/>
            <a:ext cx="435711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5B6B80"/>
                </a:solidFill>
                <a:latin typeface="Calibri"/>
              </a:rPr>
              <a:t>Model Context Protocol — the connective tissue between Claude and our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7356" y="3959352"/>
            <a:ext cx="5271516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33388" y="4261104"/>
            <a:ext cx="365760" cy="365760"/>
          </a:xfrm>
          <a:prstGeom prst="ellipse">
            <a:avLst/>
          </a:prstGeom>
          <a:solidFill>
            <a:srgbClr val="DB9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4596" y="4078224"/>
            <a:ext cx="435711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433"/>
                </a:solidFill>
                <a:latin typeface="Cambria"/>
              </a:rPr>
              <a:t>Skill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4596" y="4434840"/>
            <a:ext cx="435711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5B6B80"/>
                </a:solidFill>
                <a:latin typeface="Calibri"/>
              </a:rPr>
              <a:t>A reusable instruction set that encodes a method (e.g., note extraction with provenance)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047488"/>
            <a:ext cx="5271516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6112" y="5349240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7319" y="5166359"/>
            <a:ext cx="435711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433"/>
                </a:solidFill>
                <a:latin typeface="Cambria"/>
              </a:rPr>
              <a:t>Synthetic users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19" y="5522975"/>
            <a:ext cx="435711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5B6B80"/>
                </a:solidFill>
                <a:latin typeface="Calibri"/>
              </a:rPr>
              <a:t>Simulated participants grounded in our data — they generate data, never validate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77356" y="5047488"/>
            <a:ext cx="5271516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33388" y="5349240"/>
            <a:ext cx="365760" cy="365760"/>
          </a:xfrm>
          <a:prstGeom prst="ellipse">
            <a:avLst/>
          </a:prstGeom>
          <a:solidFill>
            <a:srgbClr val="DB9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54596" y="5166359"/>
            <a:ext cx="4357116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433"/>
                </a:solidFill>
                <a:latin typeface="Cambria"/>
              </a:rPr>
              <a:t>Provenance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4596" y="5522975"/>
            <a:ext cx="435711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5B6B80"/>
                </a:solidFill>
                <a:latin typeface="Calibri"/>
              </a:rPr>
              <a:t>The quote, source line, and context carried with every nugget so claims stay auditable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